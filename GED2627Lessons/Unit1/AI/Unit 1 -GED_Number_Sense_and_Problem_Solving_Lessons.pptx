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 snapToObjects="1">
      <p:cViewPr varScale="1">
        <p:scale>
          <a:sx n="103" d="100"/>
          <a:sy n="103" d="100"/>
        </p:scale>
        <p:origin x="17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Fox" userId="c062141f-7bff-41ad-b869-81a7335e14c9" providerId="ADAL" clId="{E513FF60-25A6-5885-9269-7DFA9BAD61A4}"/>
    <pc:docChg chg="custSel modSld">
      <pc:chgData name="Paul Fox" userId="c062141f-7bff-41ad-b869-81a7335e14c9" providerId="ADAL" clId="{E513FF60-25A6-5885-9269-7DFA9BAD61A4}" dt="2025-11-06T00:56:06.780" v="13" actId="27636"/>
      <pc:docMkLst>
        <pc:docMk/>
      </pc:docMkLst>
      <pc:sldChg chg="modSp mod">
        <pc:chgData name="Paul Fox" userId="c062141f-7bff-41ad-b869-81a7335e14c9" providerId="ADAL" clId="{E513FF60-25A6-5885-9269-7DFA9BAD61A4}" dt="2025-11-06T00:55:34.700" v="3" actId="27636"/>
        <pc:sldMkLst>
          <pc:docMk/>
          <pc:sldMk cId="0" sldId="256"/>
        </pc:sldMkLst>
        <pc:spChg chg="mod">
          <ac:chgData name="Paul Fox" userId="c062141f-7bff-41ad-b869-81a7335e14c9" providerId="ADAL" clId="{E513FF60-25A6-5885-9269-7DFA9BAD61A4}" dt="2025-11-06T00:55:34.700" v="3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aul Fox" userId="c062141f-7bff-41ad-b869-81a7335e14c9" providerId="ADAL" clId="{E513FF60-25A6-5885-9269-7DFA9BAD61A4}" dt="2025-11-06T00:55:46.488" v="7" actId="27636"/>
        <pc:sldMkLst>
          <pc:docMk/>
          <pc:sldMk cId="0" sldId="257"/>
        </pc:sldMkLst>
        <pc:spChg chg="mod">
          <ac:chgData name="Paul Fox" userId="c062141f-7bff-41ad-b869-81a7335e14c9" providerId="ADAL" clId="{E513FF60-25A6-5885-9269-7DFA9BAD61A4}" dt="2025-11-06T00:55:46.488" v="7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Paul Fox" userId="c062141f-7bff-41ad-b869-81a7335e14c9" providerId="ADAL" clId="{E513FF60-25A6-5885-9269-7DFA9BAD61A4}" dt="2025-11-06T00:55:52.502" v="9" actId="27636"/>
        <pc:sldMkLst>
          <pc:docMk/>
          <pc:sldMk cId="0" sldId="258"/>
        </pc:sldMkLst>
        <pc:spChg chg="mod">
          <ac:chgData name="Paul Fox" userId="c062141f-7bff-41ad-b869-81a7335e14c9" providerId="ADAL" clId="{E513FF60-25A6-5885-9269-7DFA9BAD61A4}" dt="2025-11-06T00:55:52.502" v="9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Paul Fox" userId="c062141f-7bff-41ad-b869-81a7335e14c9" providerId="ADAL" clId="{E513FF60-25A6-5885-9269-7DFA9BAD61A4}" dt="2025-11-06T00:55:59.432" v="11" actId="27636"/>
        <pc:sldMkLst>
          <pc:docMk/>
          <pc:sldMk cId="0" sldId="259"/>
        </pc:sldMkLst>
        <pc:spChg chg="mod">
          <ac:chgData name="Paul Fox" userId="c062141f-7bff-41ad-b869-81a7335e14c9" providerId="ADAL" clId="{E513FF60-25A6-5885-9269-7DFA9BAD61A4}" dt="2025-11-06T00:55:59.432" v="11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Paul Fox" userId="c062141f-7bff-41ad-b869-81a7335e14c9" providerId="ADAL" clId="{E513FF60-25A6-5885-9269-7DFA9BAD61A4}" dt="2025-11-06T00:56:06.780" v="13" actId="27636"/>
        <pc:sldMkLst>
          <pc:docMk/>
          <pc:sldMk cId="0" sldId="260"/>
        </pc:sldMkLst>
        <pc:spChg chg="mod">
          <ac:chgData name="Paul Fox" userId="c062141f-7bff-41ad-b869-81a7335e14c9" providerId="ADAL" clId="{E513FF60-25A6-5885-9269-7DFA9BAD61A4}" dt="2025-11-06T00:56:06.780" v="13" actId="27636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1: Understanding Number Types and Place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66967"/>
          </a:xfrm>
        </p:spPr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dirty="0"/>
              <a:t>Objectives:</a:t>
            </a:r>
          </a:p>
          <a:p>
            <a:r>
              <a:rPr dirty="0"/>
              <a:t>- Identify and classify number types.</a:t>
            </a:r>
          </a:p>
          <a:p>
            <a:r>
              <a:rPr dirty="0"/>
              <a:t>- Convert between fractions, decimals, and percentages.</a:t>
            </a:r>
          </a:p>
          <a:p>
            <a:r>
              <a:rPr dirty="0"/>
              <a:t>- Understand place value and rounding.</a:t>
            </a:r>
          </a:p>
          <a:p>
            <a:endParaRPr dirty="0"/>
          </a:p>
          <a:p>
            <a:r>
              <a:rPr dirty="0"/>
              <a:t>Worked Examples:</a:t>
            </a:r>
          </a:p>
          <a:p>
            <a:r>
              <a:rPr dirty="0"/>
              <a:t>1. Convert 0.75 to a fraction.</a:t>
            </a:r>
          </a:p>
          <a:p>
            <a:r>
              <a:rPr dirty="0"/>
              <a:t>2. Simplify 18/24.</a:t>
            </a:r>
          </a:p>
          <a:p>
            <a:r>
              <a:rPr dirty="0"/>
              <a:t>3. Round 0.03456 to the nearest thousandth.</a:t>
            </a:r>
          </a:p>
          <a:p>
            <a:r>
              <a:rPr dirty="0"/>
              <a:t>4. Classify −7, 3.14, and ½ by type.</a:t>
            </a:r>
          </a:p>
          <a:p>
            <a:r>
              <a:rPr dirty="0"/>
              <a:t>5. Convert 125% to a decimal and fraction.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2: Estimation and Mental Math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66967"/>
          </a:xfrm>
        </p:spPr>
        <p:txBody>
          <a:bodyPr>
            <a:normAutofit fontScale="77500" lnSpcReduction="20000"/>
          </a:bodyPr>
          <a:lstStyle/>
          <a:p>
            <a:endParaRPr dirty="0"/>
          </a:p>
          <a:p>
            <a:r>
              <a:rPr dirty="0"/>
              <a:t>Objectives:</a:t>
            </a:r>
          </a:p>
          <a:p>
            <a:r>
              <a:rPr dirty="0"/>
              <a:t>- Estimate sums, differences, products, and quotients.</a:t>
            </a:r>
          </a:p>
          <a:p>
            <a:r>
              <a:rPr dirty="0"/>
              <a:t>- Use compatible numbers for quick approximations.</a:t>
            </a:r>
          </a:p>
          <a:p>
            <a:endParaRPr dirty="0"/>
          </a:p>
          <a:p>
            <a:r>
              <a:rPr dirty="0"/>
              <a:t>Worked Examples:</a:t>
            </a:r>
          </a:p>
          <a:p>
            <a:r>
              <a:rPr dirty="0"/>
              <a:t>1. Estimate 234 + 567.</a:t>
            </a:r>
          </a:p>
          <a:p>
            <a:r>
              <a:rPr dirty="0"/>
              <a:t>2. Estimate 82 × 49 using compatible numbers.</a:t>
            </a:r>
          </a:p>
          <a:p>
            <a:r>
              <a:rPr dirty="0"/>
              <a:t>3. Approximate 1,278 ÷ 6.</a:t>
            </a:r>
          </a:p>
          <a:p>
            <a:r>
              <a:rPr dirty="0"/>
              <a:t>4. Check if 49 × 21 ≈ 1,000 is reasonable.</a:t>
            </a:r>
          </a:p>
          <a:p>
            <a:r>
              <a:rPr dirty="0"/>
              <a:t>5. Round 23.746 to the nearest tenth and whole.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3: Ratios, Proportions, and Percents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18686"/>
          </a:xfrm>
        </p:spPr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dirty="0"/>
              <a:t>Objectives:</a:t>
            </a:r>
          </a:p>
          <a:p>
            <a:r>
              <a:rPr dirty="0"/>
              <a:t>- Write and simplify ratios.</a:t>
            </a:r>
          </a:p>
          <a:p>
            <a:r>
              <a:rPr dirty="0"/>
              <a:t>- Solve proportions using cross-multiplication.</a:t>
            </a:r>
          </a:p>
          <a:p>
            <a:r>
              <a:rPr dirty="0"/>
              <a:t>- Calculate percentages, increase/decrease, and discounts.</a:t>
            </a:r>
          </a:p>
          <a:p>
            <a:endParaRPr dirty="0"/>
          </a:p>
          <a:p>
            <a:r>
              <a:rPr dirty="0"/>
              <a:t>Worked Examples:</a:t>
            </a:r>
          </a:p>
          <a:p>
            <a:r>
              <a:rPr dirty="0"/>
              <a:t>1. Write the ratio of 6 apples to 9 oranges.</a:t>
            </a:r>
          </a:p>
          <a:p>
            <a:r>
              <a:rPr dirty="0"/>
              <a:t>2. Solve 3/4 = x/16.</a:t>
            </a:r>
          </a:p>
          <a:p>
            <a:r>
              <a:rPr dirty="0"/>
              <a:t>3. Find 25% of 120.</a:t>
            </a:r>
          </a:p>
          <a:p>
            <a:r>
              <a:rPr dirty="0"/>
              <a:t>4. A price increases from $40 to $50. Find the percent increase.</a:t>
            </a:r>
          </a:p>
          <a:p>
            <a:r>
              <a:rPr dirty="0"/>
              <a:t>5. A $30 shirt is on sale for 20% off. Find the sale price.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4: Problem-Solving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8114"/>
          </a:xfrm>
        </p:spPr>
        <p:txBody>
          <a:bodyPr>
            <a:normAutofit fontScale="62500" lnSpcReduction="20000"/>
          </a:bodyPr>
          <a:lstStyle/>
          <a:p>
            <a:endParaRPr dirty="0"/>
          </a:p>
          <a:p>
            <a:r>
              <a:rPr dirty="0"/>
              <a:t>Objectives:</a:t>
            </a:r>
          </a:p>
          <a:p>
            <a:r>
              <a:rPr dirty="0"/>
              <a:t>- Apply the four-step problem-solving process.</a:t>
            </a:r>
          </a:p>
          <a:p>
            <a:r>
              <a:rPr dirty="0"/>
              <a:t>- Translate word problems into equations.</a:t>
            </a:r>
          </a:p>
          <a:p>
            <a:r>
              <a:rPr dirty="0"/>
              <a:t>- Evaluate solution reasonableness.</a:t>
            </a:r>
          </a:p>
          <a:p>
            <a:endParaRPr dirty="0"/>
          </a:p>
          <a:p>
            <a:r>
              <a:rPr dirty="0"/>
              <a:t>Worked Examples:</a:t>
            </a:r>
          </a:p>
          <a:p>
            <a:r>
              <a:rPr dirty="0"/>
              <a:t>1. “Twice a number is 10 more than 8.” Find the number.</a:t>
            </a:r>
          </a:p>
          <a:p>
            <a:r>
              <a:rPr dirty="0"/>
              <a:t>2. A recipe uses 3 cups of flour for 12 cookies. How much for 20 cookies?</a:t>
            </a:r>
          </a:p>
          <a:p>
            <a:r>
              <a:rPr dirty="0"/>
              <a:t>3. Solve: If 5 pencils cost $2.25, what is the cost for 12 pencils?</a:t>
            </a:r>
          </a:p>
          <a:p>
            <a:r>
              <a:rPr dirty="0"/>
              <a:t>4. You earn $15/</a:t>
            </a:r>
            <a:r>
              <a:rPr dirty="0" err="1"/>
              <a:t>hr</a:t>
            </a:r>
            <a:r>
              <a:rPr dirty="0"/>
              <a:t> and work 35 hours. How much after 15% tax?</a:t>
            </a:r>
          </a:p>
          <a:p>
            <a:r>
              <a:rPr dirty="0"/>
              <a:t>5. A car travels 240 miles in 4 hours. Find the speed and check if 250 miles in 4.5 hours is reasonable.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5: Word Problems with Real-World Contexts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9259"/>
          </a:xfrm>
        </p:spPr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dirty="0"/>
              <a:t>Objectives:</a:t>
            </a:r>
          </a:p>
          <a:p>
            <a:r>
              <a:rPr dirty="0"/>
              <a:t>- Model and solve practical problems.</a:t>
            </a:r>
          </a:p>
          <a:p>
            <a:r>
              <a:rPr dirty="0"/>
              <a:t>- Interpret real-world scenarios using equations.</a:t>
            </a:r>
          </a:p>
          <a:p>
            <a:endParaRPr dirty="0"/>
          </a:p>
          <a:p>
            <a:r>
              <a:rPr dirty="0"/>
              <a:t>Worked Examples:</a:t>
            </a:r>
          </a:p>
          <a:p>
            <a:r>
              <a:rPr dirty="0"/>
              <a:t>1. If a car travels 60 mph for 3 hours, how far does it go?</a:t>
            </a:r>
          </a:p>
          <a:p>
            <a:r>
              <a:rPr dirty="0"/>
              <a:t>2. A tank holds 50 liters. It’s 40% full. How many liters are in it?</a:t>
            </a:r>
          </a:p>
          <a:p>
            <a:r>
              <a:rPr dirty="0"/>
              <a:t>3. Two workers can finish a job in 6 hours. One alone takes 10 hours. How long for the other alone?</a:t>
            </a:r>
          </a:p>
          <a:p>
            <a:r>
              <a:rPr dirty="0"/>
              <a:t>4. If 8% sales tax is added to a $45 item, what’s the total?</a:t>
            </a:r>
          </a:p>
          <a:p>
            <a:r>
              <a:rPr dirty="0"/>
              <a:t>5. A graph shows monthly spending. Identify the highest expense category.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516</Words>
  <Application>Microsoft Macintosh PowerPoint</Application>
  <PresentationFormat>On-screen Show (4:3)</PresentationFormat>
  <Paragraphs>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Lesson 1: Understanding Number Types and Place Value</vt:lpstr>
      <vt:lpstr>Lesson 2: Estimation and Mental Math Strategies</vt:lpstr>
      <vt:lpstr>Lesson 3: Ratios, Proportions, and Percents</vt:lpstr>
      <vt:lpstr>Lesson 4: Problem-Solving Strategies</vt:lpstr>
      <vt:lpstr>Lesson 5: Word Problems with Real-World Contexts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Fox</cp:lastModifiedBy>
  <cp:revision>1</cp:revision>
  <dcterms:created xsi:type="dcterms:W3CDTF">2013-01-27T09:14:16Z</dcterms:created>
  <dcterms:modified xsi:type="dcterms:W3CDTF">2025-11-06T00:56:10Z</dcterms:modified>
  <cp:category/>
</cp:coreProperties>
</file>